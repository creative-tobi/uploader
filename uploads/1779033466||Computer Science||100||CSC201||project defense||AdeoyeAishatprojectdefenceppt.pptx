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5" r:id="rId6"/>
    <p:sldId id="260" r:id="rId7"/>
    <p:sldId id="261" r:id="rId8"/>
    <p:sldId id="262" r:id="rId9"/>
    <p:sldId id="263" r:id="rId10"/>
    <p:sldId id="275" r:id="rId11"/>
    <p:sldId id="276" r:id="rId12"/>
    <p:sldId id="268" r:id="rId13"/>
    <p:sldId id="277" r:id="rId14"/>
    <p:sldId id="278" r:id="rId15"/>
    <p:sldId id="279" r:id="rId16"/>
    <p:sldId id="272" r:id="rId17"/>
    <p:sldId id="280" r:id="rId18"/>
    <p:sldId id="281" r:id="rId19"/>
    <p:sldId id="274"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98" autoAdjust="0"/>
    <p:restoredTop sz="94660"/>
  </p:normalViewPr>
  <p:slideViewPr>
    <p:cSldViewPr snapToGrid="0">
      <p:cViewPr varScale="1">
        <p:scale>
          <a:sx n="72" d="100"/>
          <a:sy n="72" d="100"/>
        </p:scale>
        <p:origin x="45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323E04-1F03-814F-B9C4-A6D6A29B5FA1}"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F5D0A1-006C-954C-9722-09108C6DDF96}" type="slidenum">
              <a:rPr lang="en-US" smtClean="0"/>
              <a:t>‹#›</a:t>
            </a:fld>
            <a:endParaRPr lang="en-US"/>
          </a:p>
        </p:txBody>
      </p:sp>
    </p:spTree>
    <p:extLst>
      <p:ext uri="{BB962C8B-B14F-4D97-AF65-F5344CB8AC3E}">
        <p14:creationId xmlns:p14="http://schemas.microsoft.com/office/powerpoint/2010/main" val="135094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F5D0A1-006C-954C-9722-09108C6DDF96}" type="slidenum">
              <a:rPr lang="en-US" smtClean="0"/>
              <a:t>19</a:t>
            </a:fld>
            <a:endParaRPr lang="en-US"/>
          </a:p>
        </p:txBody>
      </p:sp>
    </p:spTree>
    <p:extLst>
      <p:ext uri="{BB962C8B-B14F-4D97-AF65-F5344CB8AC3E}">
        <p14:creationId xmlns:p14="http://schemas.microsoft.com/office/powerpoint/2010/main" val="2824983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427D-0270-413D-96D4-41642306F0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4AAE4D-8C00-4D0F-B2FC-CC13F8C6DC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D0604E-B931-4A59-BF33-EDECA1EA8161}"/>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5" name="Footer Placeholder 4">
            <a:extLst>
              <a:ext uri="{FF2B5EF4-FFF2-40B4-BE49-F238E27FC236}">
                <a16:creationId xmlns:a16="http://schemas.microsoft.com/office/drawing/2014/main" id="{6EAE582A-45CF-4D3E-86C7-3584BE2A45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82E0D7-3F1C-4B25-8F9A-F6FAE59B8A64}"/>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4245210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3D424-872A-4DE9-AB77-FEB691897C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906A22-BE67-4A93-8653-7164104B55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FF9FC9-4638-420D-86CC-0317777CA5F1}"/>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5" name="Footer Placeholder 4">
            <a:extLst>
              <a:ext uri="{FF2B5EF4-FFF2-40B4-BE49-F238E27FC236}">
                <a16:creationId xmlns:a16="http://schemas.microsoft.com/office/drawing/2014/main" id="{12DF4FAE-4472-40FE-9D01-7C4FABE080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8A62BC-6134-465E-9BF4-9C11514AED43}"/>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2603026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54737-A229-4CEC-96F2-29EC580B79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FFD661-93E8-44EC-BB73-21F5D6991C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A34372-FB9A-45D7-B5BB-F6769D73C8F7}"/>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5" name="Footer Placeholder 4">
            <a:extLst>
              <a:ext uri="{FF2B5EF4-FFF2-40B4-BE49-F238E27FC236}">
                <a16:creationId xmlns:a16="http://schemas.microsoft.com/office/drawing/2014/main" id="{1BB4497D-034A-4E69-B5C4-65E4FBEB32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22355D-C0C5-47E3-848F-B62B5BA1A7C0}"/>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731105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C7963-C8F8-4B89-A7A1-CFA010CA72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94EE47-E224-4DA1-AB94-BE222D4169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158B73-9E60-4641-B7B8-8094B08D4B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E76EC9-3F6A-4A47-8F9C-805F42CCA7B2}"/>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6" name="Footer Placeholder 5">
            <a:extLst>
              <a:ext uri="{FF2B5EF4-FFF2-40B4-BE49-F238E27FC236}">
                <a16:creationId xmlns:a16="http://schemas.microsoft.com/office/drawing/2014/main" id="{1FBF5CF7-EA90-4A25-9A74-DCAB9CF58C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93595E-C700-4C11-9ADB-87D4DC633C2D}"/>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3493956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A34E-0FB5-48BD-A3D9-6B618D0220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35B197-005C-49B0-B82F-AE3B5A78BD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CF74F3-8955-421C-9269-5E9E35BFAC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5CCAE0-C312-4F2D-9ABA-DE03D5AA05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EA745D-E666-4202-A093-C5C66EFF0F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36FD30-077D-440D-8511-FC5A87596595}"/>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8" name="Footer Placeholder 7">
            <a:extLst>
              <a:ext uri="{FF2B5EF4-FFF2-40B4-BE49-F238E27FC236}">
                <a16:creationId xmlns:a16="http://schemas.microsoft.com/office/drawing/2014/main" id="{0338053B-848F-484B-A1C9-9554BF85D1F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4D3F92-CCBE-4D11-87A2-EFAAB3F269B0}"/>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749665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F98FE-A723-4E9F-8CF0-3436789928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EABFB4-A274-46AE-A00F-1AD1E424B0C8}"/>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4" name="Footer Placeholder 3">
            <a:extLst>
              <a:ext uri="{FF2B5EF4-FFF2-40B4-BE49-F238E27FC236}">
                <a16:creationId xmlns:a16="http://schemas.microsoft.com/office/drawing/2014/main" id="{12170E44-1814-4126-BA21-19DC3623DB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8C5166-EC33-484F-BB2A-D6EB3B9622E3}"/>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2361246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9E32DB-EFB6-47A5-9392-65B169A9F349}"/>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3" name="Footer Placeholder 2">
            <a:extLst>
              <a:ext uri="{FF2B5EF4-FFF2-40B4-BE49-F238E27FC236}">
                <a16:creationId xmlns:a16="http://schemas.microsoft.com/office/drawing/2014/main" id="{03D68EEF-2430-4E76-8271-8858086F9A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E3B562-7042-49F5-A98B-556009D75024}"/>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1352950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4984-49DD-4F39-8A58-4042F3DCD4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99ECC9-D92C-4FC4-ACD9-5924E14184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E1AAD6-5EFE-41E8-85B2-F2604DB37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6EC606-9117-45DA-971E-89FF4977F343}"/>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6" name="Footer Placeholder 5">
            <a:extLst>
              <a:ext uri="{FF2B5EF4-FFF2-40B4-BE49-F238E27FC236}">
                <a16:creationId xmlns:a16="http://schemas.microsoft.com/office/drawing/2014/main" id="{E34D8CF2-9BCD-4293-BC17-EB9C67CC3A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9F4-1BA8-43B5-A7DC-18AFA1DC6C6E}"/>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276304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FCB6B-B40D-429F-A543-D1EB369D43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7F6E25-C313-47D6-B459-B987FC5D46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D4859C-BE78-4DB3-A2EA-8789F8EED1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8CDF5-83EB-433F-B32D-F346CB0CEC0C}"/>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6" name="Footer Placeholder 5">
            <a:extLst>
              <a:ext uri="{FF2B5EF4-FFF2-40B4-BE49-F238E27FC236}">
                <a16:creationId xmlns:a16="http://schemas.microsoft.com/office/drawing/2014/main" id="{FD04F860-4FCC-4501-8B86-81B7C9AED9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8D2B14-11D9-4E88-AD94-BB92B8908AFF}"/>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160610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194A5-18EB-488D-AB63-E295DB019C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9237EB-F295-476E-AF5A-4135D4E539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3F2667-F2FF-45C9-9687-5ED4CFAB9D4A}"/>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5" name="Footer Placeholder 4">
            <a:extLst>
              <a:ext uri="{FF2B5EF4-FFF2-40B4-BE49-F238E27FC236}">
                <a16:creationId xmlns:a16="http://schemas.microsoft.com/office/drawing/2014/main" id="{0EFE478B-81FC-4598-973E-BBF3B1053C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CA8B29-30BF-4ED0-8E08-CF83DBE926FC}"/>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1628535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575F81-0F34-4867-92C3-E71F405032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242B5B-D712-47D2-B1B8-3C39E08668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458A21-39BD-4074-850B-F95FEC9BBA64}"/>
              </a:ext>
            </a:extLst>
          </p:cNvPr>
          <p:cNvSpPr>
            <a:spLocks noGrp="1"/>
          </p:cNvSpPr>
          <p:nvPr>
            <p:ph type="dt" sz="half" idx="10"/>
          </p:nvPr>
        </p:nvSpPr>
        <p:spPr/>
        <p:txBody>
          <a:bodyPr/>
          <a:lstStyle/>
          <a:p>
            <a:fld id="{B08B959B-F759-4837-B994-37769B1B375F}" type="datetimeFigureOut">
              <a:rPr lang="en-US" smtClean="0"/>
              <a:t>4/22/2026</a:t>
            </a:fld>
            <a:endParaRPr lang="en-US"/>
          </a:p>
        </p:txBody>
      </p:sp>
      <p:sp>
        <p:nvSpPr>
          <p:cNvPr id="5" name="Footer Placeholder 4">
            <a:extLst>
              <a:ext uri="{FF2B5EF4-FFF2-40B4-BE49-F238E27FC236}">
                <a16:creationId xmlns:a16="http://schemas.microsoft.com/office/drawing/2014/main" id="{7F779F1B-32F3-4F1B-A493-64B22CF956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FE33AC-23DA-4844-AA6C-F056AD5C3DD8}"/>
              </a:ext>
            </a:extLst>
          </p:cNvPr>
          <p:cNvSpPr>
            <a:spLocks noGrp="1"/>
          </p:cNvSpPr>
          <p:nvPr>
            <p:ph type="sldNum" sz="quarter" idx="12"/>
          </p:nvPr>
        </p:nvSpPr>
        <p:spPr/>
        <p:txBody>
          <a:bodyPr/>
          <a:lstStyle/>
          <a:p>
            <a:fld id="{5E445850-AFE4-494E-B7A0-4509F5D6E90E}" type="slidenum">
              <a:rPr lang="en-US" smtClean="0"/>
              <a:t>‹#›</a:t>
            </a:fld>
            <a:endParaRPr lang="en-US"/>
          </a:p>
        </p:txBody>
      </p:sp>
    </p:spTree>
    <p:extLst>
      <p:ext uri="{BB962C8B-B14F-4D97-AF65-F5344CB8AC3E}">
        <p14:creationId xmlns:p14="http://schemas.microsoft.com/office/powerpoint/2010/main" val="1828777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2DDC8E-3D33-4EAF-A624-89BC04058E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9D9377-4892-4A81-A709-F4AFC6A189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B0022D-E775-4C23-A07B-499875C595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8B959B-F759-4837-B994-37769B1B375F}" type="datetimeFigureOut">
              <a:rPr lang="en-US" smtClean="0"/>
              <a:t>4/22/2026</a:t>
            </a:fld>
            <a:endParaRPr lang="en-US"/>
          </a:p>
        </p:txBody>
      </p:sp>
      <p:sp>
        <p:nvSpPr>
          <p:cNvPr id="5" name="Footer Placeholder 4">
            <a:extLst>
              <a:ext uri="{FF2B5EF4-FFF2-40B4-BE49-F238E27FC236}">
                <a16:creationId xmlns:a16="http://schemas.microsoft.com/office/drawing/2014/main" id="{93F10053-CF99-44D2-9293-84401AD34B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8E1048-6087-47E6-8C42-DDF0DD34DA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445850-AFE4-494E-B7A0-4509F5D6E90E}" type="slidenum">
              <a:rPr lang="en-US" smtClean="0"/>
              <a:t>‹#›</a:t>
            </a:fld>
            <a:endParaRPr lang="en-US"/>
          </a:p>
        </p:txBody>
      </p:sp>
    </p:spTree>
    <p:extLst>
      <p:ext uri="{BB962C8B-B14F-4D97-AF65-F5344CB8AC3E}">
        <p14:creationId xmlns:p14="http://schemas.microsoft.com/office/powerpoint/2010/main" val="1008484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84F7B-8F4D-404C-A284-EF0A87C7C026}"/>
              </a:ext>
            </a:extLst>
          </p:cNvPr>
          <p:cNvSpPr>
            <a:spLocks noGrp="1"/>
          </p:cNvSpPr>
          <p:nvPr>
            <p:ph type="ctrTitle"/>
          </p:nvPr>
        </p:nvSpPr>
        <p:spPr>
          <a:xfrm>
            <a:off x="1702593" y="596347"/>
            <a:ext cx="9144000" cy="1155148"/>
          </a:xfrm>
        </p:spPr>
        <p:txBody>
          <a:bodyPr>
            <a:normAutofit/>
          </a:bodyPr>
          <a:lstStyle/>
          <a:p>
            <a:r>
              <a:rPr lang="en-US" sz="2400" b="1" dirty="0">
                <a:latin typeface="Times New Roman" panose="02020603050405020304" pitchFamily="18" charset="0"/>
                <a:cs typeface="Times New Roman" panose="02020603050405020304" pitchFamily="18" charset="0"/>
              </a:rPr>
              <a:t>DESIGN AND SIMULATION OF AI-DRIVEN EARLY DETECTION OF DIGITAL BURNOUT AND OCCUPATIONAL STRESS</a:t>
            </a:r>
          </a:p>
        </p:txBody>
      </p:sp>
      <p:sp>
        <p:nvSpPr>
          <p:cNvPr id="3" name="Subtitle 2">
            <a:extLst>
              <a:ext uri="{FF2B5EF4-FFF2-40B4-BE49-F238E27FC236}">
                <a16:creationId xmlns:a16="http://schemas.microsoft.com/office/drawing/2014/main" id="{B2546FC2-149C-40E2-9E5C-45511F930F96}"/>
              </a:ext>
            </a:extLst>
          </p:cNvPr>
          <p:cNvSpPr>
            <a:spLocks noGrp="1"/>
          </p:cNvSpPr>
          <p:nvPr>
            <p:ph type="subTitle" idx="1"/>
          </p:nvPr>
        </p:nvSpPr>
        <p:spPr>
          <a:xfrm>
            <a:off x="1702593" y="2495101"/>
            <a:ext cx="8840391" cy="3667159"/>
          </a:xfrm>
        </p:spPr>
        <p:txBody>
          <a:bodyPr>
            <a:noAutofit/>
          </a:bodyPr>
          <a:lstStyle/>
          <a:p>
            <a:r>
              <a:rPr lang="en-GB" sz="2200" dirty="0">
                <a:latin typeface="Times New Roman" panose="02020603050405020304" pitchFamily="18" charset="0"/>
                <a:cs typeface="Times New Roman" panose="02020603050405020304" pitchFamily="18" charset="0"/>
              </a:rPr>
              <a:t>By:</a:t>
            </a:r>
          </a:p>
          <a:p>
            <a:r>
              <a:rPr lang="en-US" sz="2200" dirty="0">
                <a:latin typeface="Times New Roman" panose="02020603050405020304" pitchFamily="18" charset="0"/>
                <a:cs typeface="Times New Roman" panose="02020603050405020304" pitchFamily="18" charset="0"/>
              </a:rPr>
              <a:t>ADEOYE AISHAT OLUWATOB</a:t>
            </a:r>
            <a:r>
              <a:rPr lang="en-GB" sz="2200" dirty="0">
                <a:latin typeface="Times New Roman" panose="02020603050405020304" pitchFamily="18" charset="0"/>
                <a:cs typeface="Times New Roman" panose="02020603050405020304" pitchFamily="18" charset="0"/>
              </a:rPr>
              <a:t>I (</a:t>
            </a:r>
            <a:r>
              <a:rPr lang="en-US" sz="2200" dirty="0">
                <a:latin typeface="Times New Roman" panose="02020603050405020304" pitchFamily="18" charset="0"/>
                <a:cs typeface="Times New Roman" panose="02020603050405020304" pitchFamily="18" charset="0"/>
              </a:rPr>
              <a:t>2022/40906</a:t>
            </a:r>
            <a:r>
              <a:rPr lang="en-GB" sz="2200" dirty="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endParaRPr lang="en-GB"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rPr>
              <a:t>Supervised by </a:t>
            </a:r>
            <a:r>
              <a:rPr lang="en-US" sz="2200" b="1" dirty="0">
                <a:latin typeface="Times New Roman" panose="02020603050405020304" pitchFamily="18" charset="0"/>
                <a:cs typeface="Times New Roman" panose="02020603050405020304" pitchFamily="18" charset="0"/>
              </a:rPr>
              <a:t>DR. L.O OMOTOSHO</a:t>
            </a:r>
          </a:p>
          <a:p>
            <a:pPr>
              <a:lnSpc>
                <a:spcPct val="200000"/>
              </a:lnSpc>
            </a:pPr>
            <a:r>
              <a:rPr lang="en-US" sz="2200" dirty="0">
                <a:latin typeface="Times New Roman" panose="02020603050405020304" pitchFamily="18" charset="0"/>
                <a:cs typeface="Times New Roman" panose="02020603050405020304" pitchFamily="18" charset="0"/>
              </a:rPr>
              <a:t>OSUN STATE UNIVERSITY, OSOGBO</a:t>
            </a:r>
          </a:p>
          <a:p>
            <a:pPr>
              <a:lnSpc>
                <a:spcPct val="200000"/>
              </a:lnSpc>
            </a:pPr>
            <a:r>
              <a:rPr lang="en-US" sz="2200" dirty="0">
                <a:latin typeface="Times New Roman" panose="02020603050405020304" pitchFamily="18" charset="0"/>
                <a:cs typeface="Times New Roman" panose="02020603050405020304" pitchFamily="18" charset="0"/>
              </a:rPr>
              <a:t>DEPARTMENT OF COMPUTER SCIENCE</a:t>
            </a:r>
          </a:p>
        </p:txBody>
      </p:sp>
    </p:spTree>
    <p:extLst>
      <p:ext uri="{BB962C8B-B14F-4D97-AF65-F5344CB8AC3E}">
        <p14:creationId xmlns:p14="http://schemas.microsoft.com/office/powerpoint/2010/main" val="613793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305F9-CA4F-41CF-A319-8C1219674C4C}"/>
              </a:ext>
            </a:extLst>
          </p:cNvPr>
          <p:cNvSpPr>
            <a:spLocks noGrp="1"/>
          </p:cNvSpPr>
          <p:nvPr>
            <p:ph type="title"/>
          </p:nvPr>
        </p:nvSpPr>
        <p:spPr>
          <a:xfrm>
            <a:off x="838200" y="132523"/>
            <a:ext cx="10515600" cy="649356"/>
          </a:xfrm>
        </p:spPr>
        <p:txBody>
          <a:bodyPr>
            <a:normAutofit fontScale="90000"/>
          </a:bodyPr>
          <a:lstStyle/>
          <a:p>
            <a:r>
              <a:rPr lang="en-US" dirty="0">
                <a:latin typeface="Times New Roman" panose="02020603050405020304" pitchFamily="18" charset="0"/>
                <a:cs typeface="Times New Roman" panose="02020603050405020304" pitchFamily="18" charset="0"/>
              </a:rPr>
              <a:t>PRESENTATION OUTLINE</a:t>
            </a:r>
          </a:p>
        </p:txBody>
      </p:sp>
      <p:sp>
        <p:nvSpPr>
          <p:cNvPr id="3" name="Content Placeholder 2">
            <a:extLst>
              <a:ext uri="{FF2B5EF4-FFF2-40B4-BE49-F238E27FC236}">
                <a16:creationId xmlns:a16="http://schemas.microsoft.com/office/drawing/2014/main" id="{2C64A58C-A119-468E-B939-615533A1EF39}"/>
              </a:ext>
            </a:extLst>
          </p:cNvPr>
          <p:cNvSpPr>
            <a:spLocks noGrp="1"/>
          </p:cNvSpPr>
          <p:nvPr>
            <p:ph idx="1"/>
          </p:nvPr>
        </p:nvSpPr>
        <p:spPr>
          <a:xfrm>
            <a:off x="838200" y="781879"/>
            <a:ext cx="10515600" cy="5943598"/>
          </a:xfrm>
        </p:spPr>
        <p:txBody>
          <a:bodyPr>
            <a:normAutofit/>
          </a:bodyPr>
          <a:lstStyle/>
          <a:p>
            <a:pPr marL="514350" indent="-514350">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Introduction</a:t>
            </a:r>
            <a:endParaRPr lang="en-GB" sz="1800" dirty="0">
              <a:latin typeface="Times New Roman" panose="02020603050405020304" pitchFamily="18" charset="0"/>
              <a:cs typeface="Times New Roman" panose="02020603050405020304" pitchFamily="18" charset="0"/>
            </a:endParaRP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Motivation of study</a:t>
            </a: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Statement of research problem</a:t>
            </a: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Research questions </a:t>
            </a: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Aim and objectives</a:t>
            </a: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Scope of study </a:t>
            </a: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Literature review</a:t>
            </a: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Methodology</a:t>
            </a: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Expected contribution to knowledge</a:t>
            </a: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Conclusion </a:t>
            </a: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Research timeline</a:t>
            </a:r>
          </a:p>
          <a:p>
            <a:pPr marL="514350" indent="-514350">
              <a:lnSpc>
                <a:spcPct val="120000"/>
              </a:lnSpc>
              <a:buFont typeface="+mj-lt"/>
              <a:buAutoNum type="arabicPeriod"/>
            </a:pPr>
            <a:r>
              <a:rPr lang="en-GB" sz="1800" dirty="0">
                <a:latin typeface="Times New Roman" panose="02020603050405020304" pitchFamily="18" charset="0"/>
                <a:cs typeface="Times New Roman" panose="02020603050405020304" pitchFamily="18" charset="0"/>
              </a:rPr>
              <a:t>References</a:t>
            </a:r>
          </a:p>
          <a:p>
            <a:pPr marL="514350" indent="-514350">
              <a:lnSpc>
                <a:spcPct val="120000"/>
              </a:lnSpc>
              <a:buFont typeface="+mj-lt"/>
              <a:buAutoNum type="arabicPeriod"/>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3966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rmAutofit/>
          </a:bodyPr>
          <a:lstStyle/>
          <a:p>
            <a:pPr marL="0" indent="0">
              <a:lnSpc>
                <a:spcPct val="100000"/>
              </a:lnSpc>
              <a:buNone/>
            </a:pPr>
            <a:r>
              <a:rPr lang="en-US" dirty="0">
                <a:latin typeface="Times New Roman" panose="02020603050405020304" pitchFamily="18" charset="0"/>
                <a:cs typeface="Times New Roman" panose="02020603050405020304" pitchFamily="18" charset="0"/>
              </a:rPr>
              <a:t>Modern workflows have shifted heavily toward digital tools. However, prolonged use frequently leads to cognitive exhaustion, which is often mistaken for high productivity. If ignored, this exhaustion gradually builds into severe mental fatigue and burnout. </a:t>
            </a:r>
          </a:p>
          <a:p>
            <a:pPr marL="0" indent="0">
              <a:lnSpc>
                <a:spcPct val="100000"/>
              </a:lnSpc>
              <a:buNone/>
            </a:pPr>
            <a:r>
              <a:rPr lang="en-US" dirty="0">
                <a:latin typeface="Times New Roman" panose="02020603050405020304" pitchFamily="18" charset="0"/>
                <a:cs typeface="Times New Roman" panose="02020603050405020304" pitchFamily="18" charset="0"/>
              </a:rPr>
              <a:t>To solve this, we need a digital system capable of measuring the slightest cognitive decline in human interaction.</a:t>
            </a:r>
          </a:p>
        </p:txBody>
      </p:sp>
    </p:spTree>
    <p:extLst>
      <p:ext uri="{BB962C8B-B14F-4D97-AF65-F5344CB8AC3E}">
        <p14:creationId xmlns:p14="http://schemas.microsoft.com/office/powerpoint/2010/main" val="2355047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MOTIVATION OF STUDY</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rmAutofit/>
          </a:bodyPr>
          <a:lstStyle/>
          <a:p>
            <a:pPr marL="457200" indent="-457200" rtl="0">
              <a:lnSpc>
                <a:spcPct val="100000"/>
              </a:lnSpc>
              <a:buFont typeface="+mj-lt"/>
              <a:buAutoNum type="arabicPeriod"/>
            </a:pPr>
            <a:r>
              <a:rPr lang="en-US" dirty="0">
                <a:latin typeface="Times New Roman" panose="02020603050405020304" pitchFamily="18" charset="0"/>
                <a:cs typeface="Times New Roman" panose="02020603050405020304" pitchFamily="18" charset="0"/>
              </a:rPr>
              <a:t>Drastic workforce shift</a:t>
            </a:r>
          </a:p>
          <a:p>
            <a:pPr marL="457200" indent="-457200" rtl="0">
              <a:lnSpc>
                <a:spcPct val="100000"/>
              </a:lnSpc>
              <a:buFont typeface="+mj-lt"/>
              <a:buAutoNum type="arabicPeriod"/>
            </a:pPr>
            <a:r>
              <a:rPr lang="en-US" dirty="0">
                <a:latin typeface="Times New Roman" panose="02020603050405020304" pitchFamily="18" charset="0"/>
                <a:cs typeface="Times New Roman" panose="02020603050405020304" pitchFamily="18" charset="0"/>
              </a:rPr>
              <a:t>Prologued device usage</a:t>
            </a:r>
          </a:p>
          <a:p>
            <a:pPr marL="457200" indent="-457200" rtl="0">
              <a:lnSpc>
                <a:spcPct val="100000"/>
              </a:lnSpc>
              <a:buFont typeface="+mj-lt"/>
              <a:buAutoNum type="arabicPeriod"/>
            </a:pPr>
            <a:r>
              <a:rPr lang="en-US" dirty="0">
                <a:latin typeface="Times New Roman" panose="02020603050405020304" pitchFamily="18" charset="0"/>
                <a:cs typeface="Times New Roman" panose="02020603050405020304" pitchFamily="18" charset="0"/>
              </a:rPr>
              <a:t>Hidden cognitive decline</a:t>
            </a:r>
          </a:p>
          <a:p>
            <a:pPr marL="457200" indent="-457200" rtl="0">
              <a:lnSpc>
                <a:spcPct val="100000"/>
              </a:lnSpc>
              <a:buFont typeface="+mj-lt"/>
              <a:buAutoNum type="arabicPeriod"/>
            </a:pPr>
            <a:r>
              <a:rPr lang="en-US" dirty="0">
                <a:latin typeface="Times New Roman" panose="02020603050405020304" pitchFamily="18" charset="0"/>
                <a:cs typeface="Times New Roman" panose="02020603050405020304" pitchFamily="18" charset="0"/>
              </a:rPr>
              <a:t>Expensive diagnostics </a:t>
            </a:r>
          </a:p>
          <a:p>
            <a:pPr marL="0" indent="0" rtl="0">
              <a:lnSpc>
                <a:spcPct val="10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3328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STATEMENT OF RESEARCH PROBLEM</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rmAutofit/>
          </a:bodyPr>
          <a:lstStyle/>
          <a:p>
            <a:pPr marL="457200" indent="-457200" rtl="0">
              <a:lnSpc>
                <a:spcPct val="100000"/>
              </a:lnSpc>
              <a:buFont typeface="+mj-lt"/>
              <a:buAutoNum type="arabicPeriod"/>
            </a:pPr>
            <a:r>
              <a:rPr lang="en-GB" sz="2200" dirty="0">
                <a:latin typeface="Times New Roman" panose="02020603050405020304" pitchFamily="18" charset="0"/>
                <a:cs typeface="Times New Roman" panose="02020603050405020304" pitchFamily="18" charset="0"/>
              </a:rPr>
              <a:t>Heavy dependency on physiological data</a:t>
            </a:r>
          </a:p>
          <a:p>
            <a:pPr marL="457200" indent="-457200" rtl="0">
              <a:lnSpc>
                <a:spcPct val="100000"/>
              </a:lnSpc>
              <a:buFont typeface="+mj-lt"/>
              <a:buAutoNum type="arabicPeriod"/>
            </a:pPr>
            <a:r>
              <a:rPr lang="en-GB" sz="2200" dirty="0">
                <a:latin typeface="Times New Roman" panose="02020603050405020304" pitchFamily="18" charset="0"/>
                <a:cs typeface="Times New Roman" panose="02020603050405020304" pitchFamily="18" charset="0"/>
              </a:rPr>
              <a:t>Lack of passive privacy preserved system</a:t>
            </a:r>
          </a:p>
        </p:txBody>
      </p:sp>
    </p:spTree>
    <p:extLst>
      <p:ext uri="{BB962C8B-B14F-4D97-AF65-F5344CB8AC3E}">
        <p14:creationId xmlns:p14="http://schemas.microsoft.com/office/powerpoint/2010/main" val="1987623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RESEARCH QUESTIONS</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rmAutofit/>
          </a:bodyPr>
          <a:lstStyle/>
          <a:p>
            <a:pPr marL="514350" indent="-514350">
              <a:lnSpc>
                <a:spcPct val="100000"/>
              </a:lnSpc>
              <a:buFont typeface="+mj-lt"/>
              <a:buAutoNum type="arabicPeriod"/>
            </a:pPr>
            <a:r>
              <a:rPr lang="en-US" sz="2200" dirty="0">
                <a:latin typeface="Times New Roman" panose="02020603050405020304" pitchFamily="18" charset="0"/>
                <a:cs typeface="Times New Roman" panose="02020603050405020304" pitchFamily="18" charset="0"/>
              </a:rPr>
              <a:t>How can Artificial Intelligence (AI) be used to detect early </a:t>
            </a:r>
            <a:r>
              <a:rPr lang="en-GB" sz="2200" dirty="0">
                <a:latin typeface="Times New Roman" panose="02020603050405020304" pitchFamily="18" charset="0"/>
                <a:cs typeface="Times New Roman" panose="02020603050405020304" pitchFamily="18" charset="0"/>
              </a:rPr>
              <a:t>sign of </a:t>
            </a:r>
            <a:r>
              <a:rPr lang="en-US" sz="2200" dirty="0">
                <a:latin typeface="Times New Roman" panose="02020603050405020304" pitchFamily="18" charset="0"/>
                <a:cs typeface="Times New Roman" panose="02020603050405020304" pitchFamily="18" charset="0"/>
              </a:rPr>
              <a:t>occupational stress and digital burnout?</a:t>
            </a:r>
          </a:p>
          <a:p>
            <a:pPr marL="514350" indent="-514350">
              <a:lnSpc>
                <a:spcPct val="100000"/>
              </a:lnSpc>
              <a:buFont typeface="+mj-lt"/>
              <a:buAutoNum type="arabicPeriod"/>
            </a:pPr>
            <a:r>
              <a:rPr lang="en-US" sz="2200" dirty="0">
                <a:latin typeface="Times New Roman" panose="02020603050405020304" pitchFamily="18" charset="0"/>
                <a:cs typeface="Times New Roman" panose="02020603050405020304" pitchFamily="18" charset="0"/>
              </a:rPr>
              <a:t>If Artificial Intelligence (AI) can be used to detect the early sign of occupational stress and digital burnout, which machine learning techniques are most suitable for implementing such detection system?</a:t>
            </a:r>
          </a:p>
        </p:txBody>
      </p:sp>
    </p:spTree>
    <p:extLst>
      <p:ext uri="{BB962C8B-B14F-4D97-AF65-F5344CB8AC3E}">
        <p14:creationId xmlns:p14="http://schemas.microsoft.com/office/powerpoint/2010/main" val="134970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AIM AND OBJECTIVES</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Autofit/>
          </a:bodyPr>
          <a:lstStyle/>
          <a:p>
            <a:pPr marL="0" indent="0">
              <a:lnSpc>
                <a:spcPct val="110000"/>
              </a:lnSpc>
              <a:buNone/>
            </a:pPr>
            <a:r>
              <a:rPr lang="en-US" sz="2200" b="1" dirty="0">
                <a:latin typeface="Times New Roman" panose="02020603050405020304" pitchFamily="18" charset="0"/>
                <a:cs typeface="Times New Roman" panose="02020603050405020304" pitchFamily="18" charset="0"/>
              </a:rPr>
              <a:t>AIM:  </a:t>
            </a:r>
            <a:r>
              <a:rPr lang="en-US" sz="2200" dirty="0">
                <a:latin typeface="Times New Roman" panose="02020603050405020304" pitchFamily="18" charset="0"/>
                <a:cs typeface="Times New Roman" panose="02020603050405020304" pitchFamily="18" charset="0"/>
              </a:rPr>
              <a:t>The aim of this project is to design and implement an Artificial Intelligence (AI) system for early detection of digital burnout and occupational stress.</a:t>
            </a:r>
          </a:p>
          <a:p>
            <a:pPr marL="0" indent="0">
              <a:lnSpc>
                <a:spcPct val="110000"/>
              </a:lnSpc>
              <a:buNone/>
            </a:pPr>
            <a:endParaRPr lang="en-US" sz="2200" dirty="0">
              <a:latin typeface="Times New Roman" panose="02020603050405020304" pitchFamily="18" charset="0"/>
              <a:cs typeface="Times New Roman" panose="02020603050405020304" pitchFamily="18" charset="0"/>
            </a:endParaRPr>
          </a:p>
          <a:p>
            <a:pPr marL="0" indent="0">
              <a:lnSpc>
                <a:spcPct val="110000"/>
              </a:lnSpc>
              <a:buNone/>
            </a:pPr>
            <a:r>
              <a:rPr lang="en-US" sz="2200" b="1" dirty="0">
                <a:latin typeface="Times New Roman" panose="02020603050405020304" pitchFamily="18" charset="0"/>
                <a:cs typeface="Times New Roman" panose="02020603050405020304" pitchFamily="18" charset="0"/>
              </a:rPr>
              <a:t>OBJECTIVES: </a:t>
            </a:r>
            <a:r>
              <a:rPr lang="en-US" sz="2200" dirty="0">
                <a:latin typeface="Times New Roman" panose="02020603050405020304" pitchFamily="18" charset="0"/>
                <a:cs typeface="Times New Roman" panose="02020603050405020304" pitchFamily="18" charset="0"/>
              </a:rPr>
              <a:t>To achieve this aim, the specific objectives are:</a:t>
            </a:r>
          </a:p>
          <a:p>
            <a:pPr marL="514350" indent="-514350">
              <a:lnSpc>
                <a:spcPct val="110000"/>
              </a:lnSpc>
              <a:buFont typeface="+mj-lt"/>
              <a:buAutoNum type="arabicPeriod"/>
            </a:pPr>
            <a:r>
              <a:rPr lang="en-US" sz="2200" dirty="0">
                <a:latin typeface="Times New Roman" panose="02020603050405020304" pitchFamily="18" charset="0"/>
                <a:cs typeface="Times New Roman" panose="02020603050405020304" pitchFamily="18" charset="0"/>
              </a:rPr>
              <a:t>Collection of secondary behavioral data.</a:t>
            </a:r>
          </a:p>
          <a:p>
            <a:pPr marL="514350" indent="-514350">
              <a:lnSpc>
                <a:spcPct val="110000"/>
              </a:lnSpc>
              <a:buFont typeface="+mj-lt"/>
              <a:buAutoNum type="arabicPeriod"/>
            </a:pPr>
            <a:r>
              <a:rPr lang="en-US" sz="2200" dirty="0">
                <a:latin typeface="Times New Roman" panose="02020603050405020304" pitchFamily="18" charset="0"/>
                <a:cs typeface="Times New Roman" panose="02020603050405020304" pitchFamily="18" charset="0"/>
              </a:rPr>
              <a:t>Filter and preprocessing of collected data.</a:t>
            </a:r>
          </a:p>
          <a:p>
            <a:pPr marL="514350" indent="-514350">
              <a:lnSpc>
                <a:spcPct val="110000"/>
              </a:lnSpc>
              <a:buFont typeface="+mj-lt"/>
              <a:buAutoNum type="arabicPeriod"/>
            </a:pPr>
            <a:r>
              <a:rPr lang="en-US" sz="2200" dirty="0">
                <a:latin typeface="Times New Roman" panose="02020603050405020304" pitchFamily="18" charset="0"/>
                <a:cs typeface="Times New Roman" panose="02020603050405020304" pitchFamily="18" charset="0"/>
              </a:rPr>
              <a:t>Simulation and testing the designed model.</a:t>
            </a:r>
          </a:p>
          <a:p>
            <a:pPr marL="514350" indent="-514350">
              <a:lnSpc>
                <a:spcPct val="110000"/>
              </a:lnSpc>
              <a:buFont typeface="+mj-lt"/>
              <a:buAutoNum type="arabicPeriod"/>
            </a:pPr>
            <a:r>
              <a:rPr lang="en-US" sz="2200" dirty="0">
                <a:latin typeface="Times New Roman" panose="02020603050405020304" pitchFamily="18" charset="0"/>
                <a:cs typeface="Times New Roman" panose="02020603050405020304" pitchFamily="18" charset="0"/>
              </a:rPr>
              <a:t>Evaluation of the model.</a:t>
            </a:r>
          </a:p>
        </p:txBody>
      </p:sp>
    </p:spTree>
    <p:extLst>
      <p:ext uri="{BB962C8B-B14F-4D97-AF65-F5344CB8AC3E}">
        <p14:creationId xmlns:p14="http://schemas.microsoft.com/office/powerpoint/2010/main" val="942785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SCOPE OF THE STUDY</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rmAutofit/>
          </a:bodyPr>
          <a:lstStyle/>
          <a:p>
            <a:pPr marL="0" indent="0">
              <a:lnSpc>
                <a:spcPct val="100000"/>
              </a:lnSpc>
              <a:buNone/>
            </a:pPr>
            <a:r>
              <a:rPr lang="en-US" sz="2200" dirty="0">
                <a:latin typeface="Times New Roman" panose="02020603050405020304" pitchFamily="18" charset="0"/>
                <a:cs typeface="Times New Roman" panose="02020603050405020304" pitchFamily="18" charset="0"/>
              </a:rPr>
              <a:t>The scope of this project is restricted to utilizing passive behavioral data specifically keystroke latency and cursor velocity to simulate cognitive fatigue and determine whether the Isolation Forest or the One-Class Support Vector Machine provides optimal anomaly detection.</a:t>
            </a:r>
          </a:p>
        </p:txBody>
      </p:sp>
    </p:spTree>
    <p:extLst>
      <p:ext uri="{BB962C8B-B14F-4D97-AF65-F5344CB8AC3E}">
        <p14:creationId xmlns:p14="http://schemas.microsoft.com/office/powerpoint/2010/main" val="3257015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 1 OF 3</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200" b="1" dirty="0" err="1">
                <a:latin typeface="Times New Roman" panose="02020603050405020304" pitchFamily="18" charset="0"/>
                <a:cs typeface="Times New Roman" panose="02020603050405020304" pitchFamily="18" charset="0"/>
              </a:rPr>
              <a:t>Killourhy</a:t>
            </a:r>
            <a:r>
              <a:rPr lang="en-US" sz="2200" b="1" dirty="0">
                <a:latin typeface="Times New Roman" panose="02020603050405020304" pitchFamily="18" charset="0"/>
                <a:cs typeface="Times New Roman" panose="02020603050405020304" pitchFamily="18" charset="0"/>
              </a:rPr>
              <a:t>, K. S., &amp; </a:t>
            </a:r>
            <a:r>
              <a:rPr lang="en-US" sz="2200" b="1" dirty="0" err="1">
                <a:latin typeface="Times New Roman" panose="02020603050405020304" pitchFamily="18" charset="0"/>
                <a:cs typeface="Times New Roman" panose="02020603050405020304" pitchFamily="18" charset="0"/>
              </a:rPr>
              <a:t>Maxion</a:t>
            </a:r>
            <a:r>
              <a:rPr lang="en-US" sz="2200" b="1" dirty="0">
                <a:latin typeface="Times New Roman" panose="02020603050405020304" pitchFamily="18" charset="0"/>
                <a:cs typeface="Times New Roman" panose="02020603050405020304" pitchFamily="18" charset="0"/>
              </a:rPr>
              <a:t>, R. A. (2009):</a:t>
            </a:r>
            <a:r>
              <a:rPr lang="en-US" sz="2200" dirty="0">
                <a:latin typeface="Times New Roman" panose="02020603050405020304" pitchFamily="18" charset="0"/>
                <a:cs typeface="Times New Roman" panose="02020603050405020304" pitchFamily="18" charset="0"/>
              </a:rPr>
              <a:t> Comparing Anomaly-Detection Algorithms for Keystroke Dynamics.</a:t>
            </a:r>
          </a:p>
          <a:p>
            <a:pPr marL="0" marR="0" lvl="0" indent="0" algn="l" defTabSz="914400" rtl="0" eaLnBrk="0" fontAlgn="base" latinLnBrk="0" hangingPunct="0">
              <a:lnSpc>
                <a:spcPct val="100000"/>
              </a:lnSpc>
              <a:spcBef>
                <a:spcPct val="0"/>
              </a:spcBef>
              <a:spcAft>
                <a:spcPct val="0"/>
              </a:spcAft>
              <a:buClrTx/>
              <a:buSzTx/>
              <a:buFontTx/>
              <a:buNone/>
              <a:tabLst/>
            </a:pPr>
            <a:r>
              <a:rPr lang="en-US" sz="2200" b="1" dirty="0">
                <a:latin typeface="Times New Roman" panose="02020603050405020304" pitchFamily="18" charset="0"/>
                <a:cs typeface="Times New Roman" panose="02020603050405020304" pitchFamily="18" charset="0"/>
              </a:rPr>
              <a:t>Problem Addressed:</a:t>
            </a:r>
            <a:r>
              <a:rPr lang="en-US" sz="2200" dirty="0">
                <a:latin typeface="Times New Roman" panose="02020603050405020304" pitchFamily="18" charset="0"/>
                <a:cs typeface="Times New Roman" panose="02020603050405020304" pitchFamily="18" charset="0"/>
              </a:rPr>
              <a:t> Identifying the most mathematically effective anomaly detection algorithms for continuous behavioral tracking. </a:t>
            </a:r>
          </a:p>
          <a:p>
            <a:pPr marL="0" marR="0" lvl="0" indent="0" algn="l" defTabSz="914400" rtl="0" eaLnBrk="0" fontAlgn="base" latinLnBrk="0" hangingPunct="0">
              <a:lnSpc>
                <a:spcPct val="100000"/>
              </a:lnSpc>
              <a:spcBef>
                <a:spcPct val="0"/>
              </a:spcBef>
              <a:spcAft>
                <a:spcPct val="0"/>
              </a:spcAft>
              <a:buClrTx/>
              <a:buSzTx/>
              <a:buFontTx/>
              <a:buNone/>
              <a:tabLst/>
            </a:pPr>
            <a:r>
              <a:rPr lang="en-US" sz="2200" b="1" dirty="0">
                <a:latin typeface="Times New Roman" panose="02020603050405020304" pitchFamily="18" charset="0"/>
                <a:cs typeface="Times New Roman" panose="02020603050405020304" pitchFamily="18" charset="0"/>
              </a:rPr>
              <a:t>Method Used:</a:t>
            </a:r>
            <a:r>
              <a:rPr lang="en-US" sz="2200" dirty="0">
                <a:latin typeface="Times New Roman" panose="02020603050405020304" pitchFamily="18" charset="0"/>
                <a:cs typeface="Times New Roman" panose="02020603050405020304" pitchFamily="18" charset="0"/>
              </a:rPr>
              <a:t> A comparative evaluation of multiple unsupervised anomaly detectors including Support Vector Machines (SVM) on a standardized keystroke dataset. </a:t>
            </a:r>
          </a:p>
          <a:p>
            <a:pPr marL="0" marR="0" lvl="0" indent="0" algn="l" defTabSz="914400" rtl="0" eaLnBrk="0" fontAlgn="base" latinLnBrk="0" hangingPunct="0">
              <a:lnSpc>
                <a:spcPct val="100000"/>
              </a:lnSpc>
              <a:spcBef>
                <a:spcPct val="0"/>
              </a:spcBef>
              <a:spcAft>
                <a:spcPct val="0"/>
              </a:spcAft>
              <a:buClrTx/>
              <a:buSzTx/>
              <a:buFontTx/>
              <a:buNone/>
              <a:tabLst/>
            </a:pPr>
            <a:r>
              <a:rPr lang="en-US" sz="2200" b="1" dirty="0">
                <a:latin typeface="Times New Roman" panose="02020603050405020304" pitchFamily="18" charset="0"/>
                <a:cs typeface="Times New Roman" panose="02020603050405020304" pitchFamily="18" charset="0"/>
              </a:rPr>
              <a:t>Result:</a:t>
            </a:r>
            <a:r>
              <a:rPr lang="en-US" sz="2200" dirty="0">
                <a:latin typeface="Times New Roman" panose="02020603050405020304" pitchFamily="18" charset="0"/>
                <a:cs typeface="Times New Roman" panose="02020603050405020304" pitchFamily="18" charset="0"/>
              </a:rPr>
              <a:t> Proved that unsupervised anomaly detection models can establish highly accurate, individualized behavioral baselines. </a:t>
            </a:r>
          </a:p>
          <a:p>
            <a:pPr marL="0" marR="0" lvl="0" indent="0" algn="l" defTabSz="914400" rtl="0" eaLnBrk="0" fontAlgn="base" latinLnBrk="0" hangingPunct="0">
              <a:lnSpc>
                <a:spcPct val="100000"/>
              </a:lnSpc>
              <a:spcBef>
                <a:spcPct val="0"/>
              </a:spcBef>
              <a:spcAft>
                <a:spcPct val="0"/>
              </a:spcAft>
              <a:buClrTx/>
              <a:buSzTx/>
              <a:buFontTx/>
              <a:buNone/>
              <a:tabLst/>
            </a:pPr>
            <a:r>
              <a:rPr lang="en-US" sz="2200" b="1" dirty="0">
                <a:latin typeface="Times New Roman" panose="02020603050405020304" pitchFamily="18" charset="0"/>
                <a:cs typeface="Times New Roman" panose="02020603050405020304" pitchFamily="18" charset="0"/>
              </a:rPr>
              <a:t>Comment:</a:t>
            </a:r>
            <a:r>
              <a:rPr lang="en-US" sz="2200" dirty="0">
                <a:latin typeface="Times New Roman" panose="02020603050405020304" pitchFamily="18" charset="0"/>
                <a:cs typeface="Times New Roman" panose="02020603050405020304" pitchFamily="18" charset="0"/>
              </a:rPr>
              <a:t> This foundational study validated the strict mathematical efficacy of anomaly detection for keystrokes. However, it applied the architecture strictly to cybersecurity and continuous authentication. This project directly adapts these exact mathematical architectures to solve the problem of digital burnout.</a:t>
            </a:r>
          </a:p>
        </p:txBody>
      </p:sp>
    </p:spTree>
    <p:extLst>
      <p:ext uri="{BB962C8B-B14F-4D97-AF65-F5344CB8AC3E}">
        <p14:creationId xmlns:p14="http://schemas.microsoft.com/office/powerpoint/2010/main" val="2683569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 2 OF 3</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rmAutofit/>
          </a:bodyPr>
          <a:lstStyle/>
          <a:p>
            <a:pPr marL="0" indent="0">
              <a:lnSpc>
                <a:spcPct val="110000"/>
              </a:lnSpc>
              <a:buNone/>
            </a:pPr>
            <a:r>
              <a:rPr lang="en-US" sz="2200" b="1" dirty="0">
                <a:latin typeface="Times New Roman" panose="02020603050405020304" pitchFamily="18" charset="0"/>
                <a:cs typeface="Times New Roman" panose="02020603050405020304" pitchFamily="18" charset="0"/>
              </a:rPr>
              <a:t>Banerjee, S., </a:t>
            </a:r>
            <a:r>
              <a:rPr lang="en-US" sz="2200" b="1" dirty="0" err="1">
                <a:latin typeface="Times New Roman" panose="02020603050405020304" pitchFamily="18" charset="0"/>
                <a:cs typeface="Times New Roman" panose="02020603050405020304" pitchFamily="18" charset="0"/>
              </a:rPr>
              <a:t>Arjunan</a:t>
            </a:r>
            <a:r>
              <a:rPr lang="en-US" sz="2200" b="1" dirty="0">
                <a:latin typeface="Times New Roman" panose="02020603050405020304" pitchFamily="18" charset="0"/>
                <a:cs typeface="Times New Roman" panose="02020603050405020304" pitchFamily="18" charset="0"/>
              </a:rPr>
              <a:t>, S. P., &amp; Kumar, G. (2022):</a:t>
            </a:r>
            <a:r>
              <a:rPr lang="en-US" sz="2200" dirty="0">
                <a:latin typeface="Times New Roman" panose="02020603050405020304" pitchFamily="18" charset="0"/>
                <a:cs typeface="Times New Roman" panose="02020603050405020304" pitchFamily="18" charset="0"/>
              </a:rPr>
              <a:t> Keystroke Dynamics Based Cognitive Workload Modeling.</a:t>
            </a:r>
          </a:p>
          <a:p>
            <a:pPr marL="0" indent="0">
              <a:lnSpc>
                <a:spcPct val="110000"/>
              </a:lnSpc>
              <a:buNone/>
            </a:pPr>
            <a:r>
              <a:rPr lang="en-US" sz="2200" b="1" dirty="0">
                <a:latin typeface="Times New Roman" panose="02020603050405020304" pitchFamily="18" charset="0"/>
                <a:cs typeface="Times New Roman" panose="02020603050405020304" pitchFamily="18" charset="0"/>
              </a:rPr>
              <a:t>Problem Addressed:</a:t>
            </a:r>
            <a:r>
              <a:rPr lang="en-US" sz="2200" dirty="0">
                <a:latin typeface="Times New Roman" panose="02020603050405020304" pitchFamily="18" charset="0"/>
                <a:cs typeface="Times New Roman" panose="02020603050405020304" pitchFamily="18" charset="0"/>
              </a:rPr>
              <a:t> The need to correlate digital interaction patterns with cognitive stress and workload. </a:t>
            </a:r>
          </a:p>
          <a:p>
            <a:pPr marL="0" indent="0">
              <a:lnSpc>
                <a:spcPct val="110000"/>
              </a:lnSpc>
              <a:buNone/>
            </a:pPr>
            <a:r>
              <a:rPr lang="en-US" sz="2200" b="1" dirty="0">
                <a:latin typeface="Times New Roman" panose="02020603050405020304" pitchFamily="18" charset="0"/>
                <a:cs typeface="Times New Roman" panose="02020603050405020304" pitchFamily="18" charset="0"/>
              </a:rPr>
              <a:t>Method Used:</a:t>
            </a:r>
            <a:r>
              <a:rPr lang="en-US" sz="2200" dirty="0">
                <a:latin typeface="Times New Roman" panose="02020603050405020304" pitchFamily="18" charset="0"/>
                <a:cs typeface="Times New Roman" panose="02020603050405020304" pitchFamily="18" charset="0"/>
              </a:rPr>
              <a:t> Supervised machine learning techniques analyzing keystroke timing data. </a:t>
            </a:r>
          </a:p>
          <a:p>
            <a:pPr marL="0" indent="0">
              <a:lnSpc>
                <a:spcPct val="110000"/>
              </a:lnSpc>
              <a:buNone/>
            </a:pPr>
            <a:r>
              <a:rPr lang="en-US" sz="2200" b="1" dirty="0">
                <a:latin typeface="Times New Roman" panose="02020603050405020304" pitchFamily="18" charset="0"/>
                <a:cs typeface="Times New Roman" panose="02020603050405020304" pitchFamily="18" charset="0"/>
              </a:rPr>
              <a:t>Result:</a:t>
            </a:r>
            <a:r>
              <a:rPr lang="en-US" sz="2200" dirty="0">
                <a:latin typeface="Times New Roman" panose="02020603050405020304" pitchFamily="18" charset="0"/>
                <a:cs typeface="Times New Roman" panose="02020603050405020304" pitchFamily="18" charset="0"/>
              </a:rPr>
              <a:t> The study confirmed that keystroke interaction patterns strongly correlate with human cognitive load. </a:t>
            </a:r>
          </a:p>
          <a:p>
            <a:pPr marL="0" indent="0">
              <a:lnSpc>
                <a:spcPct val="110000"/>
              </a:lnSpc>
              <a:buNone/>
            </a:pPr>
            <a:r>
              <a:rPr lang="en-US" sz="2200" b="1" dirty="0">
                <a:latin typeface="Times New Roman" panose="02020603050405020304" pitchFamily="18" charset="0"/>
                <a:cs typeface="Times New Roman" panose="02020603050405020304" pitchFamily="18" charset="0"/>
              </a:rPr>
              <a:t>Comment:</a:t>
            </a:r>
            <a:r>
              <a:rPr lang="en-US" sz="2200" dirty="0">
                <a:latin typeface="Times New Roman" panose="02020603050405020304" pitchFamily="18" charset="0"/>
                <a:cs typeface="Times New Roman" panose="02020603050405020304" pitchFamily="18" charset="0"/>
              </a:rPr>
              <a:t> Because the solution relied entirely on Supervised Learning, it requires heavily labeled stress data to function. This is often unattainable in real-world corporate environments, proving the necessity for the unsupervised approach proposed in this project.</a:t>
            </a:r>
          </a:p>
        </p:txBody>
      </p:sp>
    </p:spTree>
    <p:extLst>
      <p:ext uri="{BB962C8B-B14F-4D97-AF65-F5344CB8AC3E}">
        <p14:creationId xmlns:p14="http://schemas.microsoft.com/office/powerpoint/2010/main" val="3070324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 3 OF 3</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rmAutofit fontScale="92500" lnSpcReduction="10000"/>
          </a:bodyPr>
          <a:lstStyle/>
          <a:p>
            <a:pPr marL="0" indent="0">
              <a:lnSpc>
                <a:spcPct val="120000"/>
              </a:lnSpc>
              <a:buNone/>
            </a:pPr>
            <a:r>
              <a:rPr lang="en-US" sz="2200" b="1" dirty="0" err="1">
                <a:latin typeface="Times New Roman" panose="02020603050405020304" pitchFamily="18" charset="0"/>
                <a:cs typeface="Times New Roman" panose="02020603050405020304" pitchFamily="18" charset="0"/>
              </a:rPr>
              <a:t>Ciabattoni</a:t>
            </a:r>
            <a:r>
              <a:rPr lang="en-US" sz="2200" b="1" dirty="0">
                <a:latin typeface="Times New Roman" panose="02020603050405020304" pitchFamily="18" charset="0"/>
                <a:cs typeface="Times New Roman" panose="02020603050405020304" pitchFamily="18" charset="0"/>
              </a:rPr>
              <a:t>, L., </a:t>
            </a:r>
            <a:r>
              <a:rPr lang="en-US" sz="2200" b="1" dirty="0" err="1">
                <a:latin typeface="Times New Roman" panose="02020603050405020304" pitchFamily="18" charset="0"/>
                <a:cs typeface="Times New Roman" panose="02020603050405020304" pitchFamily="18" charset="0"/>
              </a:rPr>
              <a:t>Monteriù</a:t>
            </a:r>
            <a:r>
              <a:rPr lang="en-US" sz="2200" b="1" dirty="0">
                <a:latin typeface="Times New Roman" panose="02020603050405020304" pitchFamily="18" charset="0"/>
                <a:cs typeface="Times New Roman" panose="02020603050405020304" pitchFamily="18" charset="0"/>
              </a:rPr>
              <a:t>, A., &amp; </a:t>
            </a:r>
            <a:r>
              <a:rPr lang="en-US" sz="2200" b="1" dirty="0" err="1">
                <a:latin typeface="Times New Roman" panose="02020603050405020304" pitchFamily="18" charset="0"/>
                <a:cs typeface="Times New Roman" panose="02020603050405020304" pitchFamily="18" charset="0"/>
              </a:rPr>
              <a:t>Pepa</a:t>
            </a:r>
            <a:r>
              <a:rPr lang="en-US" sz="2200" b="1" dirty="0">
                <a:latin typeface="Times New Roman" panose="02020603050405020304" pitchFamily="18" charset="0"/>
                <a:cs typeface="Times New Roman" panose="02020603050405020304" pitchFamily="18" charset="0"/>
              </a:rPr>
              <a:t>, L. (2020):</a:t>
            </a:r>
            <a:r>
              <a:rPr lang="en-US" sz="2200" dirty="0">
                <a:latin typeface="Times New Roman" panose="02020603050405020304" pitchFamily="18" charset="0"/>
                <a:cs typeface="Times New Roman" panose="02020603050405020304" pitchFamily="18" charset="0"/>
              </a:rPr>
              <a:t> Stress Detection in Computer Users From Keyboard and Mouse Dynamics. </a:t>
            </a:r>
          </a:p>
          <a:p>
            <a:pPr marL="0" indent="0">
              <a:lnSpc>
                <a:spcPct val="120000"/>
              </a:lnSpc>
              <a:buNone/>
            </a:pPr>
            <a:r>
              <a:rPr lang="en-US" sz="2200" b="1" dirty="0">
                <a:latin typeface="Times New Roman" panose="02020603050405020304" pitchFamily="18" charset="0"/>
                <a:cs typeface="Times New Roman" panose="02020603050405020304" pitchFamily="18" charset="0"/>
              </a:rPr>
              <a:t>Problem Addressed:</a:t>
            </a:r>
            <a:r>
              <a:rPr lang="en-US" sz="2200" dirty="0">
                <a:latin typeface="Times New Roman" panose="02020603050405020304" pitchFamily="18" charset="0"/>
                <a:cs typeface="Times New Roman" panose="02020603050405020304" pitchFamily="18" charset="0"/>
              </a:rPr>
              <a:t> The challenge of detecting stress unobtrusively without attaching intrusive physical sensors to a user's body. </a:t>
            </a:r>
          </a:p>
          <a:p>
            <a:pPr marL="0" indent="0">
              <a:lnSpc>
                <a:spcPct val="120000"/>
              </a:lnSpc>
              <a:buNone/>
            </a:pPr>
            <a:r>
              <a:rPr lang="en-US" sz="2200" b="1" dirty="0">
                <a:latin typeface="Times New Roman" panose="02020603050405020304" pitchFamily="18" charset="0"/>
                <a:cs typeface="Times New Roman" panose="02020603050405020304" pitchFamily="18" charset="0"/>
              </a:rPr>
              <a:t>Method Used:</a:t>
            </a:r>
            <a:r>
              <a:rPr lang="en-US" sz="2200" dirty="0">
                <a:latin typeface="Times New Roman" panose="02020603050405020304" pitchFamily="18" charset="0"/>
                <a:cs typeface="Times New Roman" panose="02020603050405020304" pitchFamily="18" charset="0"/>
              </a:rPr>
              <a:t> Collected keyboard and mouse data "in-the-wild" and applied a Random Forest machine learning classification model. </a:t>
            </a:r>
          </a:p>
          <a:p>
            <a:pPr marL="0" indent="0">
              <a:lnSpc>
                <a:spcPct val="120000"/>
              </a:lnSpc>
              <a:buNone/>
            </a:pPr>
            <a:r>
              <a:rPr lang="en-US" sz="2200" b="1" dirty="0">
                <a:latin typeface="Times New Roman" panose="02020603050405020304" pitchFamily="18" charset="0"/>
                <a:cs typeface="Times New Roman" panose="02020603050405020304" pitchFamily="18" charset="0"/>
              </a:rPr>
              <a:t>Result:</a:t>
            </a:r>
            <a:r>
              <a:rPr lang="en-US" sz="2200" dirty="0">
                <a:latin typeface="Times New Roman" panose="02020603050405020304" pitchFamily="18" charset="0"/>
                <a:cs typeface="Times New Roman" panose="02020603050405020304" pitchFamily="18" charset="0"/>
              </a:rPr>
              <a:t> Successfully classified stress levels using only standard computer peripherals (76% accuracy for keyboard, 63% for mouse). </a:t>
            </a:r>
          </a:p>
          <a:p>
            <a:pPr marL="0" indent="0">
              <a:lnSpc>
                <a:spcPct val="120000"/>
              </a:lnSpc>
              <a:buNone/>
            </a:pPr>
            <a:r>
              <a:rPr lang="en-US" sz="2200" b="1" dirty="0">
                <a:latin typeface="Times New Roman" panose="02020603050405020304" pitchFamily="18" charset="0"/>
                <a:cs typeface="Times New Roman" panose="02020603050405020304" pitchFamily="18" charset="0"/>
              </a:rPr>
              <a:t>Comment:</a:t>
            </a:r>
            <a:r>
              <a:rPr lang="en-US" sz="2200" dirty="0">
                <a:latin typeface="Times New Roman" panose="02020603050405020304" pitchFamily="18" charset="0"/>
                <a:cs typeface="Times New Roman" panose="02020603050405020304" pitchFamily="18" charset="0"/>
              </a:rPr>
              <a:t> While this proves physical wearables are unnecessary, the study relied on actively inducing stress through forced tests rather than passively monitoring naturalistic work. This leaves a critical gap for the passive, background anomaly detection utilized in this project.</a:t>
            </a:r>
          </a:p>
        </p:txBody>
      </p:sp>
    </p:spTree>
    <p:extLst>
      <p:ext uri="{BB962C8B-B14F-4D97-AF65-F5344CB8AC3E}">
        <p14:creationId xmlns:p14="http://schemas.microsoft.com/office/powerpoint/2010/main" val="1350004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METHODOLOGY </a:t>
            </a:r>
            <a:r>
              <a:rPr lang="en-US" dirty="0">
                <a:latin typeface="Times New Roman" panose="02020603050405020304" pitchFamily="18" charset="0"/>
                <a:cs typeface="Times New Roman" panose="02020603050405020304" pitchFamily="18" charset="0"/>
              </a:rPr>
              <a:t>1 OF 4</a:t>
            </a:r>
          </a:p>
        </p:txBody>
      </p:sp>
      <p:sp>
        <p:nvSpPr>
          <p:cNvPr id="3" name="Content Placeholder 2">
            <a:extLst>
              <a:ext uri="{FF2B5EF4-FFF2-40B4-BE49-F238E27FC236}">
                <a16:creationId xmlns:a16="http://schemas.microsoft.com/office/drawing/2014/main" id="{B2C8C3CD-CEFC-44E9-ABEA-711D1645D8E6}"/>
              </a:ext>
            </a:extLst>
          </p:cNvPr>
          <p:cNvSpPr>
            <a:spLocks noGrp="1"/>
          </p:cNvSpPr>
          <p:nvPr>
            <p:ph idx="1"/>
          </p:nvPr>
        </p:nvSpPr>
        <p:spPr/>
        <p:txBody>
          <a:bodyPr>
            <a:normAutofit/>
          </a:bodyPr>
          <a:lstStyle/>
          <a:p>
            <a:pPr marL="514350" indent="-514350">
              <a:lnSpc>
                <a:spcPct val="100000"/>
              </a:lnSpc>
              <a:buFont typeface="+mj-lt"/>
              <a:buAutoNum type="arabicPeriod"/>
            </a:pPr>
            <a:r>
              <a:rPr lang="en-US" sz="2200" b="1" dirty="0">
                <a:latin typeface="Times New Roman" panose="02020603050405020304" pitchFamily="18" charset="0"/>
                <a:cs typeface="Times New Roman" panose="02020603050405020304" pitchFamily="18" charset="0"/>
              </a:rPr>
              <a:t>Collection of secondary behavioral data:</a:t>
            </a:r>
          </a:p>
          <a:p>
            <a:pPr marL="514350" indent="-514350">
              <a:lnSpc>
                <a:spcPct val="100000"/>
              </a:lnSpc>
              <a:buFont typeface="+mj-lt"/>
              <a:buAutoNum type="alphaLcParenR"/>
            </a:pPr>
            <a:r>
              <a:rPr lang="en-US" sz="2200" dirty="0">
                <a:latin typeface="Times New Roman" panose="02020603050405020304" pitchFamily="18" charset="0"/>
                <a:cs typeface="Times New Roman" panose="02020603050405020304" pitchFamily="18" charset="0"/>
              </a:rPr>
              <a:t>Secondary data is obtained from the UEBA Dataset [Martin et al., 2020]. (figure 1)</a:t>
            </a:r>
          </a:p>
          <a:p>
            <a:pPr marL="514350" indent="-514350">
              <a:lnSpc>
                <a:spcPct val="100000"/>
              </a:lnSpc>
              <a:buFont typeface="+mj-lt"/>
              <a:buAutoNum type="alphaLcParenR"/>
            </a:pPr>
            <a:r>
              <a:rPr lang="en-US" sz="2200" dirty="0">
                <a:latin typeface="Times New Roman" panose="02020603050405020304" pitchFamily="18" charset="0"/>
                <a:cs typeface="Times New Roman" panose="02020603050405020304" pitchFamily="18" charset="0"/>
              </a:rPr>
              <a:t>The data set includes information on user flight time and mouse movement.</a:t>
            </a:r>
          </a:p>
          <a:p>
            <a:pPr marL="514350" indent="-514350">
              <a:lnSpc>
                <a:spcPct val="100000"/>
              </a:lnSpc>
              <a:buFont typeface="+mj-lt"/>
              <a:buAutoNum type="alphaLcParenR"/>
            </a:pPr>
            <a:r>
              <a:rPr lang="en-US" sz="2200" dirty="0">
                <a:latin typeface="Times New Roman" panose="02020603050405020304" pitchFamily="18" charset="0"/>
                <a:cs typeface="Times New Roman" panose="02020603050405020304" pitchFamily="18" charset="0"/>
              </a:rPr>
              <a:t>The dataset will be used to train algorithm without requiring active monitoring.</a:t>
            </a:r>
          </a:p>
        </p:txBody>
      </p:sp>
    </p:spTree>
    <p:extLst>
      <p:ext uri="{BB962C8B-B14F-4D97-AF65-F5344CB8AC3E}">
        <p14:creationId xmlns:p14="http://schemas.microsoft.com/office/powerpoint/2010/main" val="1760454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METHODOLOGY </a:t>
            </a:r>
            <a:r>
              <a:rPr lang="en-US" dirty="0">
                <a:latin typeface="Times New Roman" panose="02020603050405020304" pitchFamily="18" charset="0"/>
                <a:cs typeface="Times New Roman" panose="02020603050405020304" pitchFamily="18" charset="0"/>
              </a:rPr>
              <a:t>2 OF 4</a:t>
            </a:r>
          </a:p>
        </p:txBody>
      </p:sp>
      <p:sp>
        <p:nvSpPr>
          <p:cNvPr id="3" name="Content Placeholder 2">
            <a:extLst>
              <a:ext uri="{FF2B5EF4-FFF2-40B4-BE49-F238E27FC236}">
                <a16:creationId xmlns:a16="http://schemas.microsoft.com/office/drawing/2014/main" id="{B2C8C3CD-CEFC-44E9-ABEA-711D1645D8E6}"/>
              </a:ext>
            </a:extLst>
          </p:cNvPr>
          <p:cNvSpPr>
            <a:spLocks noGrp="1"/>
          </p:cNvSpPr>
          <p:nvPr>
            <p:ph idx="1"/>
          </p:nvPr>
        </p:nvSpPr>
        <p:spPr/>
        <p:txBody>
          <a:bodyPr>
            <a:normAutofit/>
          </a:bodyPr>
          <a:lstStyle/>
          <a:p>
            <a:pPr marL="0" indent="0">
              <a:lnSpc>
                <a:spcPct val="100000"/>
              </a:lnSpc>
              <a:buNone/>
            </a:pPr>
            <a:r>
              <a:rPr lang="en-US" sz="2200" b="1" dirty="0">
                <a:latin typeface="Times New Roman" panose="02020603050405020304" pitchFamily="18" charset="0"/>
                <a:cs typeface="Times New Roman" panose="02020603050405020304" pitchFamily="18" charset="0"/>
              </a:rPr>
              <a:t>2. Filter and preprocessing of collected data:</a:t>
            </a:r>
          </a:p>
          <a:p>
            <a:pPr marL="514350" indent="-514350">
              <a:lnSpc>
                <a:spcPct val="100000"/>
              </a:lnSpc>
              <a:buFont typeface="+mj-lt"/>
              <a:buAutoNum type="alphaLcParenR"/>
            </a:pPr>
            <a:r>
              <a:rPr lang="en-US" sz="2200" dirty="0">
                <a:latin typeface="Times New Roman" panose="02020603050405020304" pitchFamily="18" charset="0"/>
                <a:cs typeface="Times New Roman" panose="02020603050405020304" pitchFamily="18" charset="0"/>
              </a:rPr>
              <a:t>The raw data collected is filtered to isolate flight time and mouse movement.</a:t>
            </a:r>
          </a:p>
          <a:p>
            <a:pPr marL="514350" indent="-514350">
              <a:lnSpc>
                <a:spcPct val="100000"/>
              </a:lnSpc>
              <a:buFont typeface="+mj-lt"/>
              <a:buAutoNum type="alphaLcParenR"/>
            </a:pPr>
            <a:r>
              <a:rPr lang="en-US" sz="2200" dirty="0">
                <a:latin typeface="Times New Roman" panose="02020603050405020304" pitchFamily="18" charset="0"/>
                <a:cs typeface="Times New Roman" panose="02020603050405020304" pitchFamily="18" charset="0"/>
              </a:rPr>
              <a:t>Python panda is used to filter and preprocess the collected dataset.</a:t>
            </a:r>
          </a:p>
          <a:p>
            <a:pPr marL="0" indent="0">
              <a:lnSpc>
                <a:spcPct val="100000"/>
              </a:lnSpc>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9076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METHODOLOGY </a:t>
            </a:r>
            <a:r>
              <a:rPr lang="en-US" dirty="0">
                <a:latin typeface="Times New Roman" panose="02020603050405020304" pitchFamily="18" charset="0"/>
                <a:cs typeface="Times New Roman" panose="02020603050405020304" pitchFamily="18" charset="0"/>
              </a:rPr>
              <a:t>3 OF 4</a:t>
            </a:r>
          </a:p>
        </p:txBody>
      </p:sp>
      <p:sp>
        <p:nvSpPr>
          <p:cNvPr id="6" name="TextBox 5">
            <a:extLst>
              <a:ext uri="{FF2B5EF4-FFF2-40B4-BE49-F238E27FC236}">
                <a16:creationId xmlns:a16="http://schemas.microsoft.com/office/drawing/2014/main" id="{4FB87617-8652-4E1D-8575-91A4B05867A0}"/>
              </a:ext>
            </a:extLst>
          </p:cNvPr>
          <p:cNvSpPr txBox="1"/>
          <p:nvPr/>
        </p:nvSpPr>
        <p:spPr>
          <a:xfrm>
            <a:off x="2416270" y="6016488"/>
            <a:ext cx="6079165" cy="369332"/>
          </a:xfrm>
          <a:prstGeom prst="rect">
            <a:avLst/>
          </a:prstGeom>
          <a:noFill/>
        </p:spPr>
        <p:txBody>
          <a:bodyPr wrap="none" rtlCol="0">
            <a:spAutoFit/>
          </a:bodyPr>
          <a:lstStyle/>
          <a:p>
            <a:pPr algn="ctr">
              <a:lnSpc>
                <a:spcPct val="100000"/>
              </a:lnSpc>
            </a:pPr>
            <a:r>
              <a:rPr lang="en-US" dirty="0"/>
              <a:t>Figure 1: </a:t>
            </a:r>
            <a:r>
              <a:rPr lang="en-US" sz="1800" dirty="0">
                <a:latin typeface="Times New Roman" panose="02020603050405020304" pitchFamily="18" charset="0"/>
                <a:cs typeface="Times New Roman" panose="02020603050405020304" pitchFamily="18" charset="0"/>
              </a:rPr>
              <a:t> Secondary dataset obtained from the UEBA Dataset</a:t>
            </a:r>
          </a:p>
        </p:txBody>
      </p:sp>
      <p:pic>
        <p:nvPicPr>
          <p:cNvPr id="8" name="Content Placeholder 7">
            <a:extLst>
              <a:ext uri="{FF2B5EF4-FFF2-40B4-BE49-F238E27FC236}">
                <a16:creationId xmlns:a16="http://schemas.microsoft.com/office/drawing/2014/main" id="{DEF5AF00-3A97-4006-90B0-93EC838EFF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6270" y="1547330"/>
            <a:ext cx="6399909" cy="4143670"/>
          </a:xfrm>
        </p:spPr>
      </p:pic>
    </p:spTree>
    <p:extLst>
      <p:ext uri="{BB962C8B-B14F-4D97-AF65-F5344CB8AC3E}">
        <p14:creationId xmlns:p14="http://schemas.microsoft.com/office/powerpoint/2010/main" val="476425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METHODOLOGY </a:t>
            </a:r>
            <a:r>
              <a:rPr lang="en-US" dirty="0">
                <a:latin typeface="Times New Roman" panose="02020603050405020304" pitchFamily="18" charset="0"/>
                <a:cs typeface="Times New Roman" panose="02020603050405020304" pitchFamily="18" charset="0"/>
              </a:rPr>
              <a:t>4 OF 4</a:t>
            </a:r>
          </a:p>
        </p:txBody>
      </p:sp>
      <p:sp>
        <p:nvSpPr>
          <p:cNvPr id="6" name="TextBox 5">
            <a:extLst>
              <a:ext uri="{FF2B5EF4-FFF2-40B4-BE49-F238E27FC236}">
                <a16:creationId xmlns:a16="http://schemas.microsoft.com/office/drawing/2014/main" id="{4FB87617-8652-4E1D-8575-91A4B05867A0}"/>
              </a:ext>
            </a:extLst>
          </p:cNvPr>
          <p:cNvSpPr txBox="1"/>
          <p:nvPr/>
        </p:nvSpPr>
        <p:spPr>
          <a:xfrm>
            <a:off x="3473587" y="6123543"/>
            <a:ext cx="4343690" cy="369332"/>
          </a:xfrm>
          <a:prstGeom prst="rect">
            <a:avLst/>
          </a:prstGeom>
          <a:noFill/>
        </p:spPr>
        <p:txBody>
          <a:bodyPr wrap="none" rtlCol="0">
            <a:spAutoFit/>
          </a:bodyPr>
          <a:lstStyle/>
          <a:p>
            <a:pPr algn="ctr"/>
            <a:r>
              <a:rPr lang="en-US" dirty="0"/>
              <a:t>Figure 2: Flowchart of the project </a:t>
            </a:r>
            <a:r>
              <a:rPr lang="en-US" dirty="0" err="1"/>
              <a:t>simulatoin</a:t>
            </a:r>
            <a:endParaRPr lang="en-US" dirty="0"/>
          </a:p>
        </p:txBody>
      </p:sp>
      <p:pic>
        <p:nvPicPr>
          <p:cNvPr id="8" name="Content Placeholder 7">
            <a:extLst>
              <a:ext uri="{FF2B5EF4-FFF2-40B4-BE49-F238E27FC236}">
                <a16:creationId xmlns:a16="http://schemas.microsoft.com/office/drawing/2014/main" id="{63C10105-E8EC-4ACA-BC8E-580F966B2AA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845" b="18150"/>
          <a:stretch/>
        </p:blipFill>
        <p:spPr>
          <a:xfrm>
            <a:off x="3625135" y="1432269"/>
            <a:ext cx="3875595" cy="4767129"/>
          </a:xfrm>
        </p:spPr>
      </p:pic>
    </p:spTree>
    <p:extLst>
      <p:ext uri="{BB962C8B-B14F-4D97-AF65-F5344CB8AC3E}">
        <p14:creationId xmlns:p14="http://schemas.microsoft.com/office/powerpoint/2010/main" val="4024724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EXPECTED CONTRIBUTION TO KNOWLEDGE</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rmAutofit/>
          </a:bodyPr>
          <a:lstStyle/>
          <a:p>
            <a:pPr marL="0" indent="0">
              <a:buNone/>
            </a:pPr>
            <a:r>
              <a:rPr lang="en-GB" dirty="0">
                <a:latin typeface="Times New Roman" panose="02020603050405020304" pitchFamily="18" charset="0"/>
                <a:cs typeface="Times New Roman" panose="02020603050405020304" pitchFamily="18" charset="0"/>
              </a:rPr>
              <a:t>This research contributed to the existing knowledge through:</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Detecting stress and burnout using passive behavioural data.</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Measuring early cognitive fatigue without expensive diagnostics.</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Applying unsupervised machine learning model to detect each users anomaly behaviour.</a:t>
            </a:r>
            <a:br>
              <a:rPr lang="en-GB" dirty="0">
                <a:latin typeface="Times New Roman" panose="02020603050405020304" pitchFamily="18" charset="0"/>
                <a:cs typeface="Times New Roman" panose="02020603050405020304" pitchFamily="18" charset="0"/>
              </a:rPr>
            </a:br>
            <a:endParaRPr lang="en-GB" dirty="0"/>
          </a:p>
        </p:txBody>
      </p:sp>
    </p:spTree>
    <p:extLst>
      <p:ext uri="{BB962C8B-B14F-4D97-AF65-F5344CB8AC3E}">
        <p14:creationId xmlns:p14="http://schemas.microsoft.com/office/powerpoint/2010/main" val="3911313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0BD2-2FFD-4D95-8775-D2FE7940886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091C156-6954-40B1-BB56-5500F29A95AD}"/>
              </a:ext>
            </a:extLst>
          </p:cNvPr>
          <p:cNvSpPr>
            <a:spLocks noGrp="1"/>
          </p:cNvSpPr>
          <p:nvPr>
            <p:ph idx="1"/>
          </p:nvPr>
        </p:nvSpPr>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In conclusion, this study successfully engineered a passive, software-only framework capable of detecting early-stage digital burnout. By validating unsupervised anomaly detection models specifically the Isolation Forest and OC-SVM the research proved that cognitive decline can be accurately classified using only standard computer peripherals. Ultimately, this system delivers a privacy-preserving, scalable blueprint for occupational health that completely eliminates the reliance on subjective surveys and intrusive biometric hardware.</a:t>
            </a:r>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9698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CDE6B99-A4BA-4024-B5DB-B790EAB503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1361" y="137663"/>
            <a:ext cx="11251038" cy="6528180"/>
          </a:xfrm>
        </p:spPr>
      </p:pic>
    </p:spTree>
    <p:extLst>
      <p:ext uri="{BB962C8B-B14F-4D97-AF65-F5344CB8AC3E}">
        <p14:creationId xmlns:p14="http://schemas.microsoft.com/office/powerpoint/2010/main" val="3638241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63ACD-6671-8B32-C28F-EA9292692A2C}"/>
              </a:ext>
            </a:extLst>
          </p:cNvPr>
          <p:cNvSpPr>
            <a:spLocks noGrp="1"/>
          </p:cNvSpPr>
          <p:nvPr>
            <p:ph type="title"/>
          </p:nvPr>
        </p:nvSpPr>
        <p:spPr/>
        <p:txBody>
          <a:bodyPr>
            <a:normAutofit/>
          </a:bodyPr>
          <a:lstStyle/>
          <a:p>
            <a:r>
              <a:rPr lang="en-GB"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563555AE-7F73-460B-AE1D-DA5D7FBB924C}"/>
              </a:ext>
            </a:extLst>
          </p:cNvPr>
          <p:cNvSpPr>
            <a:spLocks noGrp="1" noChangeArrowheads="1"/>
          </p:cNvSpPr>
          <p:nvPr>
            <p:ph idx="1"/>
          </p:nvPr>
        </p:nvSpPr>
        <p:spPr bwMode="auto">
          <a:xfrm>
            <a:off x="838200" y="1542827"/>
            <a:ext cx="10515600" cy="413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indent="-514350">
              <a:buFont typeface="+mj-lt"/>
              <a:buAutoNum type="arabicPeriod"/>
            </a:pPr>
            <a:r>
              <a:rPr lang="en-US" sz="2200" dirty="0">
                <a:latin typeface="Times New Roman" panose="02020603050405020304" pitchFamily="18" charset="0"/>
                <a:cs typeface="Times New Roman" panose="02020603050405020304" pitchFamily="18" charset="0"/>
              </a:rPr>
              <a:t>Banerjee, S., </a:t>
            </a:r>
            <a:r>
              <a:rPr lang="en-US" sz="2200" dirty="0" err="1">
                <a:latin typeface="Times New Roman" panose="02020603050405020304" pitchFamily="18" charset="0"/>
                <a:cs typeface="Times New Roman" panose="02020603050405020304" pitchFamily="18" charset="0"/>
              </a:rPr>
              <a:t>Arjunan</a:t>
            </a:r>
            <a:r>
              <a:rPr lang="en-US" sz="2200" dirty="0">
                <a:latin typeface="Times New Roman" panose="02020603050405020304" pitchFamily="18" charset="0"/>
                <a:cs typeface="Times New Roman" panose="02020603050405020304" pitchFamily="18" charset="0"/>
              </a:rPr>
              <a:t>, S. P., &amp; Kumar, G. (2022). Keystroke Dynamics Based Cognitive Workload Modeling. IEEE Transactions on Affective Computing, 13(4), 1889-1901.</a:t>
            </a:r>
          </a:p>
          <a:p>
            <a:pPr marL="514350" indent="-514350">
              <a:buFont typeface="+mj-lt"/>
              <a:buAutoNum type="arabicPeriod"/>
            </a:pPr>
            <a:r>
              <a:rPr lang="en-US" sz="2200" dirty="0" err="1">
                <a:latin typeface="Times New Roman" panose="02020603050405020304" pitchFamily="18" charset="0"/>
                <a:cs typeface="Times New Roman" panose="02020603050405020304" pitchFamily="18" charset="0"/>
              </a:rPr>
              <a:t>Ciabattoni</a:t>
            </a:r>
            <a:r>
              <a:rPr lang="en-US" sz="2200" dirty="0">
                <a:latin typeface="Times New Roman" panose="02020603050405020304" pitchFamily="18" charset="0"/>
                <a:cs typeface="Times New Roman" panose="02020603050405020304" pitchFamily="18" charset="0"/>
              </a:rPr>
              <a:t>, L., </a:t>
            </a:r>
            <a:r>
              <a:rPr lang="en-US" sz="2200" dirty="0" err="1">
                <a:latin typeface="Times New Roman" panose="02020603050405020304" pitchFamily="18" charset="0"/>
                <a:cs typeface="Times New Roman" panose="02020603050405020304" pitchFamily="18" charset="0"/>
              </a:rPr>
              <a:t>Monteriù</a:t>
            </a:r>
            <a:r>
              <a:rPr lang="en-US" sz="2200" dirty="0">
                <a:latin typeface="Times New Roman" panose="02020603050405020304" pitchFamily="18" charset="0"/>
                <a:cs typeface="Times New Roman" panose="02020603050405020304" pitchFamily="18" charset="0"/>
              </a:rPr>
              <a:t>, A., &amp; </a:t>
            </a:r>
            <a:r>
              <a:rPr lang="en-US" sz="2200" dirty="0" err="1">
                <a:latin typeface="Times New Roman" panose="02020603050405020304" pitchFamily="18" charset="0"/>
                <a:cs typeface="Times New Roman" panose="02020603050405020304" pitchFamily="18" charset="0"/>
              </a:rPr>
              <a:t>Pepa</a:t>
            </a:r>
            <a:r>
              <a:rPr lang="en-US" sz="2200" dirty="0">
                <a:latin typeface="Times New Roman" panose="02020603050405020304" pitchFamily="18" charset="0"/>
                <a:cs typeface="Times New Roman" panose="02020603050405020304" pitchFamily="18" charset="0"/>
              </a:rPr>
              <a:t>, L. (2020). Stress Detection in Computer Users From Keyboard and Mouse Dynamics. IEEE Transactions on Consumer Electronics, 66(4), 304-311. </a:t>
            </a:r>
            <a:r>
              <a:rPr lang="en-US" sz="2200" dirty="0" err="1">
                <a:latin typeface="Times New Roman" panose="02020603050405020304" pitchFamily="18" charset="0"/>
                <a:cs typeface="Times New Roman" panose="02020603050405020304" pitchFamily="18" charset="0"/>
              </a:rPr>
              <a:t>Killourhy</a:t>
            </a:r>
            <a:r>
              <a:rPr lang="en-US" sz="2200" dirty="0">
                <a:latin typeface="Times New Roman" panose="02020603050405020304" pitchFamily="18" charset="0"/>
                <a:cs typeface="Times New Roman" panose="02020603050405020304" pitchFamily="18" charset="0"/>
              </a:rPr>
              <a:t>, K. S., &amp; </a:t>
            </a:r>
            <a:r>
              <a:rPr lang="en-US" sz="2200" dirty="0" err="1">
                <a:latin typeface="Times New Roman" panose="02020603050405020304" pitchFamily="18" charset="0"/>
                <a:cs typeface="Times New Roman" panose="02020603050405020304" pitchFamily="18" charset="0"/>
              </a:rPr>
              <a:t>Maxion</a:t>
            </a:r>
            <a:r>
              <a:rPr lang="en-US" sz="2200" dirty="0">
                <a:latin typeface="Times New Roman" panose="02020603050405020304" pitchFamily="18" charset="0"/>
                <a:cs typeface="Times New Roman" panose="02020603050405020304" pitchFamily="18" charset="0"/>
              </a:rPr>
              <a:t>, R. A. (2009). Comparing Anomaly-Detection Algorithms for Keystroke Dynamics. IEEE/IFIP International Conference on Dependable Systems &amp; Networks, 125-134.</a:t>
            </a:r>
          </a:p>
          <a:p>
            <a:pPr marL="514350" indent="-514350">
              <a:buFont typeface="+mj-lt"/>
              <a:buAutoNum type="arabicPeriod"/>
            </a:pPr>
            <a:r>
              <a:rPr lang="en-US" sz="2200" dirty="0" err="1">
                <a:latin typeface="Times New Roman" panose="02020603050405020304" pitchFamily="18" charset="0"/>
                <a:cs typeface="Times New Roman" panose="02020603050405020304" pitchFamily="18" charset="0"/>
              </a:rPr>
              <a:t>Killourhy</a:t>
            </a:r>
            <a:r>
              <a:rPr lang="en-US" sz="2200" dirty="0">
                <a:latin typeface="Times New Roman" panose="02020603050405020304" pitchFamily="18" charset="0"/>
                <a:cs typeface="Times New Roman" panose="02020603050405020304" pitchFamily="18" charset="0"/>
              </a:rPr>
              <a:t>, K. S., &amp; </a:t>
            </a:r>
            <a:r>
              <a:rPr lang="en-US" sz="2200" dirty="0" err="1">
                <a:latin typeface="Times New Roman" panose="02020603050405020304" pitchFamily="18" charset="0"/>
                <a:cs typeface="Times New Roman" panose="02020603050405020304" pitchFamily="18" charset="0"/>
              </a:rPr>
              <a:t>Maxion</a:t>
            </a:r>
            <a:r>
              <a:rPr lang="en-US" sz="2200" dirty="0">
                <a:latin typeface="Times New Roman" panose="02020603050405020304" pitchFamily="18" charset="0"/>
                <a:cs typeface="Times New Roman" panose="02020603050405020304" pitchFamily="18" charset="0"/>
              </a:rPr>
              <a:t>, R. A. (2009). Comparing Anomaly-Detection Algorithms for Keystroke Dynamics. IEEE/IFIP International Conference on Dependable Systems &amp; Networks, 125-134.</a:t>
            </a:r>
          </a:p>
          <a:p>
            <a:pPr marL="514350" indent="-514350">
              <a:buFont typeface="+mj-lt"/>
              <a:buAutoNum type="arabicPeriod"/>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0000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76A0D-A0B7-478F-8910-0D489EE8A8CE}"/>
              </a:ext>
            </a:extLst>
          </p:cNvPr>
          <p:cNvSpPr>
            <a:spLocks noGrp="1"/>
          </p:cNvSpPr>
          <p:nvPr>
            <p:ph type="ctrTitle"/>
          </p:nvPr>
        </p:nvSpPr>
        <p:spPr/>
        <p:txBody>
          <a:bodyPr/>
          <a:lstStyle/>
          <a:p>
            <a:r>
              <a:rPr lang="en-US" dirty="0"/>
              <a:t>THANK YOU FOR LISTENING</a:t>
            </a:r>
          </a:p>
        </p:txBody>
      </p:sp>
    </p:spTree>
    <p:extLst>
      <p:ext uri="{BB962C8B-B14F-4D97-AF65-F5344CB8AC3E}">
        <p14:creationId xmlns:p14="http://schemas.microsoft.com/office/powerpoint/2010/main" val="1476610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1185</TotalTime>
  <Words>1095</Words>
  <Application>Microsoft Office PowerPoint</Application>
  <PresentationFormat>Widescreen</PresentationFormat>
  <Paragraphs>88</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DESIGN AND SIMULATION OF AI-DRIVEN EARLY DETECTION OF DIGITAL BURNOUT AND OCCUPATIONAL STRESS</vt:lpstr>
      <vt:lpstr>PRESENTATION OUTLINE</vt:lpstr>
      <vt:lpstr>INTRODUCTION</vt:lpstr>
      <vt:lpstr>MOTIVATION OF STUDY</vt:lpstr>
      <vt:lpstr>STATEMENT OF RESEARCH PROBLEM</vt:lpstr>
      <vt:lpstr>RESEARCH QUESTIONS</vt:lpstr>
      <vt:lpstr>AIM AND OBJECTIVES</vt:lpstr>
      <vt:lpstr>SCOPE OF THE STUDY</vt:lpstr>
      <vt:lpstr>LITERATURE 1 OF 3</vt:lpstr>
      <vt:lpstr>LITERATURE 2 OF 3</vt:lpstr>
      <vt:lpstr>LITERATURE 3 OF 3</vt:lpstr>
      <vt:lpstr>METHODOLOGY 1 OF 4</vt:lpstr>
      <vt:lpstr>METHODOLOGY 2 OF 4</vt:lpstr>
      <vt:lpstr>METHODOLOGY 3 OF 4</vt:lpstr>
      <vt:lpstr>METHODOLOGY 4 OF 4</vt:lpstr>
      <vt:lpstr>EXPECTED CONTRIBUTION TO KNOWLEDGE</vt:lpstr>
      <vt:lpstr>CONCLUSION</vt:lpstr>
      <vt:lpstr>PowerPoint Presentation</vt:lpstr>
      <vt:lpstr>REFERENCES</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IMPLEMENTATION OF AI-DRIVEN EARLY DETECTION OF DIGITAL BURNOUT AND OCCUPATIONAL STRESS</dc:title>
  <dc:creator>Adeoye Aisha</dc:creator>
  <cp:lastModifiedBy>Adeoye Aisha</cp:lastModifiedBy>
  <cp:revision>53</cp:revision>
  <dcterms:created xsi:type="dcterms:W3CDTF">2026-02-13T22:01:17Z</dcterms:created>
  <dcterms:modified xsi:type="dcterms:W3CDTF">2026-04-22T23:26:14Z</dcterms:modified>
</cp:coreProperties>
</file>